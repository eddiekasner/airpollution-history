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5" Type="http://schemas.openxmlformats.org/officeDocument/2006/relationships/viewProps" Target="viewProps.xml" /><Relationship Id="rId24" Type="http://schemas.openxmlformats.org/officeDocument/2006/relationships/presProps" Target="presProps.xml" /><Relationship Id="rId1" Type="http://schemas.openxmlformats.org/officeDocument/2006/relationships/slideMaster" Target="slideMasters/slideMaster1.xml" /><Relationship Id="rId27" Type="http://schemas.openxmlformats.org/officeDocument/2006/relationships/tableStyles" Target="tableStyles.xml" /><Relationship Id="rId2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201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005">
                <a:solidFill>
                  <a:schemeClr val="tx1">
                    <a:tint val="75000"/>
                  </a:schemeClr>
                </a:solidFill>
              </a:defRPr>
            </a:lvl1pPr>
            <a:lvl2pPr marL="342900" indent="0">
              <a:buNone/>
              <a:defRPr sz="1000">
                <a:solidFill>
                  <a:schemeClr val="tx1">
                    <a:tint val="75000"/>
                  </a:schemeClr>
                </a:solidFill>
              </a:defRPr>
            </a:lvl2pPr>
            <a:lvl3pPr marL="685800" indent="0">
              <a:buNone/>
              <a:defRPr sz="1000">
                <a:solidFill>
                  <a:schemeClr val="tx1">
                    <a:tint val="75000"/>
                  </a:schemeClr>
                </a:solidFill>
              </a:defRPr>
            </a:lvl3pPr>
            <a:lvl4pPr marL="1028700" indent="0">
              <a:buNone/>
              <a:defRPr sz="1000">
                <a:solidFill>
                  <a:schemeClr val="tx1">
                    <a:tint val="75000"/>
                  </a:schemeClr>
                </a:solidFill>
              </a:defRPr>
            </a:lvl4pPr>
            <a:lvl5pPr marL="1371600" indent="0">
              <a:buNone/>
              <a:defRPr sz="1000">
                <a:solidFill>
                  <a:schemeClr val="tx1">
                    <a:tint val="75000"/>
                  </a:schemeClr>
                </a:solidFill>
              </a:defRPr>
            </a:lvl5pPr>
            <a:lvl6pPr marL="1714500" indent="0">
              <a:buNone/>
              <a:defRPr sz="1000">
                <a:solidFill>
                  <a:schemeClr val="tx1">
                    <a:tint val="75000"/>
                  </a:schemeClr>
                </a:solidFill>
              </a:defRPr>
            </a:lvl6pPr>
            <a:lvl7pPr marL="2057400" indent="0">
              <a:buNone/>
              <a:defRPr sz="1000">
                <a:solidFill>
                  <a:schemeClr val="tx1">
                    <a:tint val="75000"/>
                  </a:schemeClr>
                </a:solidFill>
              </a:defRPr>
            </a:lvl7pPr>
            <a:lvl8pPr marL="2400300" indent="0">
              <a:buNone/>
              <a:defRPr sz="1000">
                <a:solidFill>
                  <a:schemeClr val="tx1">
                    <a:tint val="75000"/>
                  </a:schemeClr>
                </a:solidFill>
              </a:defRPr>
            </a:lvl8pPr>
            <a:lvl9pPr marL="2743200" indent="0">
              <a:buNone/>
              <a:defRPr sz="10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1407"/>
            </a:lvl1pPr>
            <a:lvl2pPr>
              <a:defRPr sz="1206"/>
            </a:lvl2pPr>
            <a:lvl3pPr>
              <a:defRPr sz="1005"/>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1407"/>
            </a:lvl1pPr>
            <a:lvl2pPr>
              <a:defRPr sz="1206"/>
            </a:lvl2pPr>
            <a:lvl3pPr>
              <a:defRPr sz="1005"/>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206" b="1"/>
            </a:lvl1pPr>
            <a:lvl2pPr marL="342900" indent="0">
              <a:buNone/>
              <a:defRPr sz="1005" b="1"/>
            </a:lvl2pPr>
            <a:lvl3pPr marL="685800" indent="0">
              <a:buNone/>
              <a:defRPr sz="1000" b="1"/>
            </a:lvl3pPr>
            <a:lvl4pPr marL="1028700" indent="0">
              <a:buNone/>
              <a:defRPr sz="1000" b="1"/>
            </a:lvl4pPr>
            <a:lvl5pPr marL="1371600" indent="0">
              <a:buNone/>
              <a:defRPr sz="1000" b="1"/>
            </a:lvl5pPr>
            <a:lvl6pPr marL="1714500" indent="0">
              <a:buNone/>
              <a:defRPr sz="1000" b="1"/>
            </a:lvl6pPr>
            <a:lvl7pPr marL="2057400" indent="0">
              <a:buNone/>
              <a:defRPr sz="1000" b="1"/>
            </a:lvl7pPr>
            <a:lvl8pPr marL="2400300" indent="0">
              <a:buNone/>
              <a:defRPr sz="1000" b="1"/>
            </a:lvl8pPr>
            <a:lvl9pPr marL="2743200" indent="0">
              <a:buNone/>
              <a:defRPr sz="10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206"/>
            </a:lvl1pPr>
            <a:lvl2pPr>
              <a:defRPr sz="1005"/>
            </a:lvl2pPr>
            <a:lvl3pPr>
              <a:defRPr sz="10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206" b="1"/>
            </a:lvl1pPr>
            <a:lvl2pPr marL="342900" indent="0">
              <a:buNone/>
              <a:defRPr sz="1005" b="1"/>
            </a:lvl2pPr>
            <a:lvl3pPr marL="685800" indent="0">
              <a:buNone/>
              <a:defRPr sz="1000" b="1"/>
            </a:lvl3pPr>
            <a:lvl4pPr marL="1028700" indent="0">
              <a:buNone/>
              <a:defRPr sz="1000" b="1"/>
            </a:lvl4pPr>
            <a:lvl5pPr marL="1371600" indent="0">
              <a:buNone/>
              <a:defRPr sz="1000" b="1"/>
            </a:lvl5pPr>
            <a:lvl6pPr marL="1714500" indent="0">
              <a:buNone/>
              <a:defRPr sz="1000" b="1"/>
            </a:lvl6pPr>
            <a:lvl7pPr marL="2057400" indent="0">
              <a:buNone/>
              <a:defRPr sz="1000" b="1"/>
            </a:lvl7pPr>
            <a:lvl8pPr marL="2400300" indent="0">
              <a:buNone/>
              <a:defRPr sz="1000" b="1"/>
            </a:lvl8pPr>
            <a:lvl9pPr marL="2743200" indent="0">
              <a:buNone/>
              <a:defRPr sz="10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206"/>
            </a:lvl1pPr>
            <a:lvl2pPr>
              <a:defRPr sz="1005"/>
            </a:lvl2pPr>
            <a:lvl3pPr>
              <a:defRPr sz="10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005"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1608"/>
            </a:lvl1pPr>
            <a:lvl2pPr>
              <a:defRPr sz="1407"/>
            </a:lvl2pPr>
            <a:lvl3pPr>
              <a:defRPr sz="1206"/>
            </a:lvl3pPr>
            <a:lvl4pPr>
              <a:defRPr sz="1005"/>
            </a:lvl4pPr>
            <a:lvl5pPr>
              <a:defRPr sz="1005"/>
            </a:lvl5pPr>
            <a:lvl6pPr>
              <a:defRPr sz="1005"/>
            </a:lvl6pPr>
            <a:lvl7pPr>
              <a:defRPr sz="1005"/>
            </a:lvl7pPr>
            <a:lvl8pPr>
              <a:defRPr sz="1005"/>
            </a:lvl8pPr>
            <a:lvl9pPr>
              <a:defRPr sz="100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00"/>
            </a:lvl1pPr>
            <a:lvl2pPr marL="342900" indent="0">
              <a:buNone/>
              <a:defRPr sz="1000"/>
            </a:lvl2pPr>
            <a:lvl3pPr marL="685800" indent="0">
              <a:buNone/>
              <a:defRPr sz="1000"/>
            </a:lvl3pPr>
            <a:lvl4pPr marL="1028700" indent="0">
              <a:buNone/>
              <a:defRPr sz="1000"/>
            </a:lvl4pPr>
            <a:lvl5pPr marL="1371600" indent="0">
              <a:buNone/>
              <a:defRPr sz="1000"/>
            </a:lvl5pPr>
            <a:lvl6pPr marL="1714500" indent="0">
              <a:buNone/>
              <a:defRPr sz="1000"/>
            </a:lvl6pPr>
            <a:lvl7pPr marL="2057400" indent="0">
              <a:buNone/>
              <a:defRPr sz="1000"/>
            </a:lvl7pPr>
            <a:lvl8pPr marL="2400300" indent="0">
              <a:buNone/>
              <a:defRPr sz="1000"/>
            </a:lvl8pPr>
            <a:lvl9pPr marL="27432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005"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1608"/>
            </a:lvl1pPr>
            <a:lvl2pPr marL="342900" indent="0">
              <a:buNone/>
              <a:defRPr sz="1407"/>
            </a:lvl2pPr>
            <a:lvl3pPr marL="685800" indent="0">
              <a:buNone/>
              <a:defRPr sz="1206"/>
            </a:lvl3pPr>
            <a:lvl4pPr marL="1028700" indent="0">
              <a:buNone/>
              <a:defRPr sz="1005"/>
            </a:lvl4pPr>
            <a:lvl5pPr marL="1371600" indent="0">
              <a:buNone/>
              <a:defRPr sz="1005"/>
            </a:lvl5pPr>
            <a:lvl6pPr marL="1714500" indent="0">
              <a:buNone/>
              <a:defRPr sz="1005"/>
            </a:lvl6pPr>
            <a:lvl7pPr marL="2057400" indent="0">
              <a:buNone/>
              <a:defRPr sz="1005"/>
            </a:lvl7pPr>
            <a:lvl8pPr marL="2400300" indent="0">
              <a:buNone/>
              <a:defRPr sz="1005"/>
            </a:lvl8pPr>
            <a:lvl9pPr marL="2743200" indent="0">
              <a:buNone/>
              <a:defRPr sz="1005"/>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00"/>
            </a:lvl1pPr>
            <a:lvl2pPr marL="342900" indent="0">
              <a:buNone/>
              <a:defRPr sz="1000"/>
            </a:lvl2pPr>
            <a:lvl3pPr marL="685800" indent="0">
              <a:buNone/>
              <a:defRPr sz="1000"/>
            </a:lvl3pPr>
            <a:lvl4pPr marL="1028700" indent="0">
              <a:buNone/>
              <a:defRPr sz="1000"/>
            </a:lvl4pPr>
            <a:lvl5pPr marL="1371600" indent="0">
              <a:buNone/>
              <a:defRPr sz="1000"/>
            </a:lvl5pPr>
            <a:lvl6pPr marL="1714500" indent="0">
              <a:buNone/>
              <a:defRPr sz="1000"/>
            </a:lvl6pPr>
            <a:lvl7pPr marL="2057400" indent="0">
              <a:buNone/>
              <a:defRPr sz="1000"/>
            </a:lvl7pPr>
            <a:lvl8pPr marL="2400300" indent="0">
              <a:buNone/>
              <a:defRPr sz="1000"/>
            </a:lvl8pPr>
            <a:lvl9pPr marL="27432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26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16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14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2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1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1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1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1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1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1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jp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jp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thelancet.com/journals/lancet/article/PIIS0140-6736(00)04135-0/fulltext" TargetMode="Externa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jp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jp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ncbi.nlm.nih.gov/pmc/articles/PMC1130478/?page=3" TargetMode="External" /><Relationship Id="rId3" Type="http://schemas.openxmlformats.org/officeDocument/2006/relationships/hyperlink" Target="https://www.epa.gov/laws-regulations/summary-clean-air-act" TargetMode="External" /><Relationship Id="rId4" Type="http://schemas.openxmlformats.org/officeDocument/2006/relationships/hyperlink" Target="https://www.lung.org/research/sota" TargetMode="Externa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spub.epa.gov/air/trendsreport/2025/" TargetMode="External" /><Relationship Id="rId2" Type="http://schemas.openxmlformats.org/officeDocument/2006/relationships/image" Target="../media/image9.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jp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nejm.org/doi/full/10.1056/NEJM199312093292401" TargetMode="External" /><Relationship Id="rId3" Type="http://schemas.openxmlformats.org/officeDocument/2006/relationships/hyperlink" Target="https://www.thelancet.com/journals/lancet/article/PIIS0140-6736%2816%2900378-0/fulltext" TargetMode="External" /><Relationship Id="rId4" Type="http://schemas.openxmlformats.org/officeDocument/2006/relationships/hyperlink" Target="https://deohs.washington.edu/air-pollution-aging-brain-and-alzheimers-disease" TargetMode="External" /><Relationship Id="rId5" Type="http://schemas.openxmlformats.org/officeDocument/2006/relationships/hyperlink" Target="https://deohs.washington.edu/air-pollution-aging-brain-and-alzheimers-disease" TargetMode="External" /><Relationship Id="rId6" Type="http://schemas.openxmlformats.org/officeDocument/2006/relationships/hyperlink" Target="https://deohs.washington.edu/air-pollution-aging-brain-and-alzheimers-disease" TargetMode="External" /><Relationship Id="rId7" Type="http://schemas.openxmlformats.org/officeDocument/2006/relationships/hyperlink" Target="https://www.stateofglobalair.org/news-events/2024/new-state-global-air-report-finds-air-pollution-second-leading-risk-factor-death" TargetMode="External" /><Relationship Id="rId8" Type="http://schemas.openxmlformats.org/officeDocument/2006/relationships/hyperlink" Target="https://news.stanford.edu/stories/2023/09/wildfire-smokes-toxic-influence" TargetMode="External" /><Relationship Id="rId9" Type="http://schemas.openxmlformats.org/officeDocument/2006/relationships/hyperlink" Target="https://news.stanford.edu/stories/2023/09/wildfire-smokes-toxic-influence" TargetMode="External" /><Relationship Id="rId10" Type="http://schemas.openxmlformats.org/officeDocument/2006/relationships/hyperlink" Target="https://map.pscleanair.gov/" TargetMode="External" /><Relationship Id="rId11" Type="http://schemas.openxmlformats.org/officeDocument/2006/relationships/hyperlink" Target="https://airqualitymap.ecology.wa.gov/" TargetMode="External" /><Relationship Id="rId12" Type="http://schemas.openxmlformats.org/officeDocument/2006/relationships/hyperlink" Target="https://fire.airnow.gov" TargetMode="Externa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who.int/publications/i/item/9789240034228" TargetMode="External" /><Relationship Id="rId3" Type="http://schemas.openxmlformats.org/officeDocument/2006/relationships/hyperlink" Target="https://www.epa.gov/scram/air-quality-dispersion-modeling-preferred-and-recommended-models" TargetMode="External" /><Relationship Id="rId4" Type="http://schemas.openxmlformats.org/officeDocument/2006/relationships/hyperlink" Target="https://www.epa.gov/scram/air-pollutant-receptor-modeling" TargetMode="External" /><Relationship Id="rId5" Type="http://schemas.openxmlformats.org/officeDocument/2006/relationships/hyperlink" Target="https://pscleanair.gov/" TargetMode="External" /><Relationship Id="rId6" Type="http://schemas.openxmlformats.org/officeDocument/2006/relationships/hyperlink" Target="https://airqualitymap.ecology.wa.gov/" TargetMode="External" /><Relationship Id="rId7" Type="http://schemas.openxmlformats.org/officeDocument/2006/relationships/hyperlink" Target="https://gispub.epa.gov/air/trendsreport/2025/#home" TargetMode="External" /><Relationship Id="rId8" Type="http://schemas.openxmlformats.org/officeDocument/2006/relationships/hyperlink" Target="https://lni.wa.gov/safety-health/safety-rules/rulemaking-stakeholder-information/wildfire-smoke" TargetMode="External" /><Relationship Id="rId9" Type="http://schemas.openxmlformats.org/officeDocument/2006/relationships/hyperlink" Target="https://ecology.wa.gov/Air-Climate/Climate-Commitment-Act/Overburdened-communities"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A Brief History of Air Pollution and Exposure Pathways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ENVH 111</a:t>
            </a:r>
            <a:br/>
            <a:br/>
            <a:r>
              <a:rPr/>
              <a:t>Eddie Kasner</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Overview</a:t>
            </a:r>
          </a:p>
        </p:txBody>
      </p:sp>
      <p:sp>
        <p:nvSpPr>
          <p:cNvPr id="3" name="Content Placeholder 2"/>
          <p:cNvSpPr>
            <a:spLocks noGrp="1"/>
          </p:cNvSpPr>
          <p:nvPr>
            <p:ph idx="1"/>
          </p:nvPr>
        </p:nvSpPr>
        <p:spPr/>
        <p:txBody>
          <a:bodyPr/>
          <a:lstStyle/>
          <a:p>
            <a:pPr lvl="0" indent="-342900" marL="342900">
              <a:buAutoNum type="arabicPeriod"/>
            </a:pPr>
            <a:r>
              <a:rPr/>
              <a:t>Air pollution sources, exposure routes and pathways</a:t>
            </a:r>
          </a:p>
          <a:p>
            <a:pPr lvl="0" indent="-342900" marL="342900">
              <a:buAutoNum type="arabicPeriod"/>
            </a:pPr>
            <a:r>
              <a:rPr/>
              <a:t>Historic air quality events</a:t>
            </a:r>
          </a:p>
          <a:p>
            <a:pPr lvl="1"/>
            <a:r>
              <a:rPr/>
              <a:t>Meuse Valley, Belgium (1930)</a:t>
            </a:r>
          </a:p>
          <a:p>
            <a:pPr lvl="1"/>
            <a:r>
              <a:rPr/>
              <a:t>Donora, Pennsylvania (1948)</a:t>
            </a:r>
          </a:p>
          <a:p>
            <a:pPr lvl="1"/>
            <a:r>
              <a:rPr/>
              <a:t>Great Smog of London (1952)</a:t>
            </a:r>
          </a:p>
          <a:p>
            <a:pPr lvl="1"/>
            <a:r>
              <a:rPr/>
              <a:t>Los Angeles and Clean Air Act (1970)</a:t>
            </a:r>
          </a:p>
          <a:p>
            <a:pPr lvl="1"/>
            <a:r>
              <a:rPr/>
              <a:t>Beijing “Airpocalypse” (2013-2014)</a:t>
            </a:r>
          </a:p>
          <a:p>
            <a:pPr lvl="1"/>
            <a:r>
              <a:rPr/>
              <a:t>Recent wildfire smoke events (2020-2025)</a:t>
            </a:r>
          </a:p>
          <a:p>
            <a:pPr lvl="0" indent="-342900" marL="342900">
              <a:buAutoNum type="arabicPeriod"/>
            </a:pPr>
            <a:r>
              <a:rPr/>
              <a:t>Air pollution studies</a:t>
            </a:r>
          </a:p>
          <a:p>
            <a:pPr lvl="0" indent="-342900" marL="342900">
              <a:buAutoNum type="arabicPeriod"/>
            </a:pPr>
            <a:r>
              <a:rPr/>
              <a:t>Government and policy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Exposure Pathways and Routes</a:t>
            </a:r>
          </a:p>
        </p:txBody>
      </p:sp>
      <p:sp>
        <p:nvSpPr>
          <p:cNvPr id="4" name="Text Placeholder 3"/>
          <p:cNvSpPr>
            <a:spLocks noGrp="1"/>
          </p:cNvSpPr>
          <p:nvPr>
            <p:ph idx="2" sz="half" type="body"/>
          </p:nvPr>
        </p:nvSpPr>
        <p:spPr/>
        <p:txBody>
          <a:bodyPr/>
          <a:lstStyle/>
          <a:p>
            <a:pPr lvl="0"/>
            <a:r>
              <a:rPr/>
              <a:t>Exposure pathway = source + medium + receptor</a:t>
            </a:r>
          </a:p>
          <a:p>
            <a:pPr lvl="0"/>
            <a:r>
              <a:rPr/>
              <a:t>Exposure route = how a contaminant enters receptor</a:t>
            </a:r>
          </a:p>
          <a:p>
            <a:pPr lvl="1"/>
            <a:r>
              <a:rPr/>
              <a:t>Dermal contact</a:t>
            </a:r>
          </a:p>
          <a:p>
            <a:pPr lvl="1"/>
            <a:r>
              <a:rPr/>
              <a:t>Ingestion</a:t>
            </a:r>
          </a:p>
          <a:p>
            <a:pPr lvl="1"/>
            <a:r>
              <a:rPr/>
              <a:t>Inhalation</a:t>
            </a:r>
          </a:p>
        </p:txBody>
      </p:sp>
      <p:pic>
        <p:nvPicPr>
          <p:cNvPr descr="Three black silhouettes of a person's head and torso labeled Contact, Ingestion, and Inhalation. Arrows point at the skin for contact, into the mouth and stomach for ingestion, and into the nose and lungs for inhalation." id="0" name="Picture 1"/>
          <p:cNvPicPr>
            <a:picLocks noGrp="1" noChangeAspect="1"/>
          </p:cNvPicPr>
          <p:nvPr/>
        </p:nvPicPr>
        <p:blipFill>
          <a:blip r:embed="rId2"/>
          <a:stretch>
            <a:fillRect/>
          </a:stretch>
        </p:blipFill>
        <p:spPr bwMode="auto">
          <a:xfrm>
            <a:off x="3568700" y="660400"/>
            <a:ext cx="5105400" cy="29718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Damalas C. 2016. Farmers’ Exposure to Pesticides: Toxicity Types and Ways of Prevention. Open Access Toxics 2016, 4(1): 1.</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Air Pollution Sources</a:t>
            </a:r>
          </a:p>
        </p:txBody>
      </p:sp>
      <p:pic>
        <p:nvPicPr>
          <p:cNvPr descr="Illustration of air pollution sources. Volcanoes, wildfires, agriculture, factories, towns and homes, vehicle exhaust, aeroplanes, and shipping emit primary pollutants (carbon monoxide, nitric oxide, sulphur dioxide, nitrogen dioxide, ammonia, particulates, and volatile organic compounds), which react in the atmosphere to form secondary pollutants (sulphur trioxide, nitric acid, sulphuric acid, hydrogen peroxide, ammonium, ozone, and particulates)." id="0" name="Picture 1"/>
          <p:cNvPicPr>
            <a:picLocks noGrp="1" noChangeAspect="1"/>
          </p:cNvPicPr>
          <p:nvPr/>
        </p:nvPicPr>
        <p:blipFill>
          <a:blip r:embed="rId2"/>
          <a:stretch>
            <a:fillRect/>
          </a:stretch>
        </p:blipFill>
        <p:spPr bwMode="auto">
          <a:xfrm>
            <a:off x="2336800" y="1193800"/>
            <a:ext cx="44577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Scotland’s Environment. Air quality. https://www.environment.gov.scot/our-environment/air/air-quality/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Exposure Pathway</a:t>
            </a:r>
          </a:p>
        </p:txBody>
      </p:sp>
      <p:sp>
        <p:nvSpPr>
          <p:cNvPr id="3" name="Content Placeholder 2"/>
          <p:cNvSpPr>
            <a:spLocks noGrp="1"/>
          </p:cNvSpPr>
          <p:nvPr>
            <p:ph idx="1"/>
          </p:nvPr>
        </p:nvSpPr>
        <p:spPr/>
        <p:txBody>
          <a:bodyPr/>
          <a:lstStyle/>
          <a:p>
            <a:pPr lvl="0"/>
            <a:r>
              <a:rPr/>
              <a:t>Sources</a:t>
            </a:r>
          </a:p>
          <a:p>
            <a:pPr lvl="1"/>
            <a:r>
              <a:rPr/>
              <a:t>Natural: volcanic eruptions, wildfires, allergens</a:t>
            </a:r>
          </a:p>
          <a:p>
            <a:pPr lvl="1"/>
            <a:r>
              <a:rPr/>
              <a:t>Human: energy use, transportation, industry, agriculture</a:t>
            </a:r>
          </a:p>
          <a:p>
            <a:pPr lvl="0"/>
            <a:r>
              <a:rPr/>
              <a:t>Pollutants</a:t>
            </a:r>
          </a:p>
          <a:p>
            <a:pPr lvl="1"/>
            <a:r>
              <a:rPr/>
              <a:t>Primary: hazardous substance emitted directly into atmosphere</a:t>
            </a:r>
          </a:p>
          <a:p>
            <a:pPr lvl="2"/>
            <a:r>
              <a:rPr/>
              <a:t>CO - gas, coal, or wood combustion</a:t>
            </a:r>
          </a:p>
          <a:p>
            <a:pPr lvl="2"/>
            <a:r>
              <a:rPr/>
              <a:t>NO</a:t>
            </a:r>
            <a:r>
              <a:rPr baseline="-25000"/>
              <a:t>x</a:t>
            </a:r>
            <a:r>
              <a:rPr/>
              <a:t> - fossil fuel combustion, e.g. brown haze around cities</a:t>
            </a:r>
          </a:p>
          <a:p>
            <a:pPr lvl="2"/>
            <a:r>
              <a:rPr/>
              <a:t>SO</a:t>
            </a:r>
            <a:r>
              <a:rPr baseline="-25000"/>
              <a:t>2</a:t>
            </a:r>
            <a:r>
              <a:rPr/>
              <a:t> - volcanoes and industrial coal combustion</a:t>
            </a:r>
          </a:p>
          <a:p>
            <a:pPr lvl="2"/>
            <a:r>
              <a:rPr/>
              <a:t>PM - particulate matter, e.g. fossil fuel combustion, brake dust, smoke</a:t>
            </a:r>
          </a:p>
          <a:p>
            <a:pPr lvl="2"/>
            <a:r>
              <a:rPr/>
              <a:t>NH</a:t>
            </a:r>
            <a:r>
              <a:rPr baseline="-25000"/>
              <a:t>3</a:t>
            </a:r>
            <a:r>
              <a:rPr/>
              <a:t> - agricultural processes, e.g. fertilizer</a:t>
            </a:r>
          </a:p>
          <a:p>
            <a:pPr lvl="2"/>
            <a:r>
              <a:rPr/>
              <a:t>VOCs - volatile organic compounds, e.g. benzene, toluene</a:t>
            </a:r>
          </a:p>
          <a:p>
            <a:pPr lvl="2"/>
            <a:r>
              <a:rPr/>
              <a:t>Pb - “anti-knocking” agent formerly added to gasoline</a:t>
            </a:r>
          </a:p>
          <a:p>
            <a:pPr lvl="1"/>
            <a:r>
              <a:rPr/>
              <a:t>Secondary: hazardous substance formed in atmospheric reaction</a:t>
            </a:r>
          </a:p>
          <a:p>
            <a:pPr lvl="2"/>
            <a:r>
              <a:rPr/>
              <a:t>O</a:t>
            </a:r>
            <a:r>
              <a:rPr baseline="-25000"/>
              <a:t>3</a:t>
            </a:r>
            <a:r>
              <a:rPr/>
              <a:t>, SO</a:t>
            </a:r>
            <a:r>
              <a:rPr baseline="-25000"/>
              <a:t>3</a:t>
            </a:r>
            <a:r>
              <a:rPr/>
              <a:t>, HNO</a:t>
            </a:r>
            <a:r>
              <a:rPr baseline="-25000"/>
              <a:t>3</a:t>
            </a:r>
            <a:r>
              <a:rPr/>
              <a:t>, H</a:t>
            </a:r>
            <a:r>
              <a:rPr baseline="-25000"/>
              <a:t>2</a:t>
            </a:r>
            <a:r>
              <a:rPr/>
              <a:t>SO</a:t>
            </a:r>
            <a:r>
              <a:rPr baseline="-25000"/>
              <a:t>4</a:t>
            </a:r>
            <a:r>
              <a:rPr/>
              <a:t>, H</a:t>
            </a:r>
            <a:r>
              <a:rPr baseline="-25000"/>
              <a:t>2</a:t>
            </a:r>
            <a:r>
              <a:rPr/>
              <a:t>O</a:t>
            </a:r>
            <a:r>
              <a:rPr baseline="-25000"/>
              <a:t>2</a:t>
            </a:r>
            <a:r>
              <a:rPr/>
              <a:t>, NH</a:t>
            </a:r>
            <a:r>
              <a:rPr baseline="-25000"/>
              <a:t>4</a:t>
            </a:r>
            <a:r>
              <a:rPr baseline="30000"/>
              <a:t>+</a:t>
            </a:r>
            <a:r>
              <a:rPr/>
              <a:t>, PM</a:t>
            </a:r>
          </a:p>
          <a:p>
            <a:pPr lvl="0"/>
            <a:r>
              <a:rPr/>
              <a:t>Receptors: humans and animals (each pollutant has different health effect)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Meuse Valley Fog, Belgium (1930)</a:t>
            </a:r>
          </a:p>
        </p:txBody>
      </p:sp>
      <p:pic>
        <p:nvPicPr>
          <p:cNvPr descr="Map of the Meuse Valley, about 20 kilometers long, running from Huy in the southwest to Liège in the northeast. A dotted line marks the fog-covered area along the river, with densely populated areas shaded and markers for large factories and deaths clustered along the narrow valley floor." id="0" name="Picture 1"/>
          <p:cNvPicPr>
            <a:picLocks noGrp="1" noChangeAspect="1"/>
          </p:cNvPicPr>
          <p:nvPr/>
        </p:nvPicPr>
        <p:blipFill>
          <a:blip r:embed="rId2"/>
          <a:stretch>
            <a:fillRect/>
          </a:stretch>
        </p:blipFill>
        <p:spPr bwMode="auto">
          <a:xfrm>
            <a:off x="2489200" y="1193800"/>
            <a:ext cx="41783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Nemery et al. 2001. The Meuse Valley fog of 1930: an air pollution disaster. The Lancet 357(9257): 704-708.</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Meuse Valley Fog, Belgium (1930)</a:t>
            </a:r>
          </a:p>
        </p:txBody>
      </p:sp>
      <p:sp>
        <p:nvSpPr>
          <p:cNvPr id="3" name="Content Placeholder 2"/>
          <p:cNvSpPr>
            <a:spLocks noGrp="1"/>
          </p:cNvSpPr>
          <p:nvPr>
            <p:ph idx="1"/>
          </p:nvPr>
        </p:nvSpPr>
        <p:spPr/>
        <p:txBody>
          <a:bodyPr/>
          <a:lstStyle/>
          <a:p>
            <a:pPr lvl="0"/>
            <a:r>
              <a:rPr/>
              <a:t>Sources</a:t>
            </a:r>
          </a:p>
          <a:p>
            <a:pPr lvl="1"/>
            <a:r>
              <a:rPr/>
              <a:t>SO</a:t>
            </a:r>
            <a:r>
              <a:rPr baseline="-25000"/>
              <a:t>2</a:t>
            </a:r>
            <a:r>
              <a:rPr/>
              <a:t>, H</a:t>
            </a:r>
            <a:r>
              <a:rPr baseline="-25000"/>
              <a:t>2</a:t>
            </a:r>
            <a:r>
              <a:rPr/>
              <a:t>SO</a:t>
            </a:r>
            <a:r>
              <a:rPr baseline="-25000"/>
              <a:t>4</a:t>
            </a:r>
            <a:r>
              <a:rPr/>
              <a:t>, or HF from nearby zinc, glass, and steel factories</a:t>
            </a:r>
          </a:p>
          <a:p>
            <a:pPr lvl="1"/>
            <a:r>
              <a:rPr/>
              <a:t>Inversion: warm air layer trapped cold, polluted air in the valley (5 days in Dec)</a:t>
            </a:r>
          </a:p>
          <a:p>
            <a:pPr lvl="0"/>
            <a:r>
              <a:rPr/>
              <a:t>Receptors</a:t>
            </a:r>
          </a:p>
          <a:p>
            <a:pPr lvl="1"/>
            <a:r>
              <a:rPr/>
              <a:t>Asthma-like symptoms: shortness of breath, coughing fits</a:t>
            </a:r>
          </a:p>
          <a:p>
            <a:pPr lvl="1"/>
            <a:r>
              <a:rPr/>
              <a:t>Estimated 60 excess deaths (20-89 years old)</a:t>
            </a:r>
          </a:p>
          <a:p>
            <a:pPr lvl="0"/>
            <a:r>
              <a:rPr/>
              <a:t>Impacts</a:t>
            </a:r>
          </a:p>
          <a:p>
            <a:pPr lvl="1"/>
            <a:r>
              <a:rPr/>
              <a:t>Seen at the time as “an unavoidable consequence of prosperity”</a:t>
            </a:r>
          </a:p>
          <a:p>
            <a:pPr lvl="1"/>
            <a:r>
              <a:rPr/>
              <a:t>Interviewed family physicians and patients days after smog</a:t>
            </a:r>
          </a:p>
          <a:p>
            <a:pPr lvl="1"/>
            <a:r>
              <a:rPr/>
              <a:t>First scientific proof of link between air pollution and illness and death</a:t>
            </a:r>
          </a:p>
          <a:p>
            <a:pPr lvl="1"/>
            <a:r>
              <a:rPr/>
              <a:t>Demonstrated role of temperature inversions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Temperature Inversion</a:t>
            </a:r>
          </a:p>
        </p:txBody>
      </p:sp>
      <p:pic>
        <p:nvPicPr>
          <p:cNvPr descr="Two-panel diagram over a city skyline. Under normal conditions, air is warmest near the ground and arrows show it rising freely. During a temperature inversion, a layer of warmer air sits above cooler air near the ground, and arrows show rising air blocked and turned back down." id="0" name="Picture 1"/>
          <p:cNvPicPr>
            <a:picLocks noGrp="1" noChangeAspect="1"/>
          </p:cNvPicPr>
          <p:nvPr/>
        </p:nvPicPr>
        <p:blipFill>
          <a:blip r:embed="rId2"/>
          <a:stretch>
            <a:fillRect/>
          </a:stretch>
        </p:blipFill>
        <p:spPr bwMode="auto">
          <a:xfrm>
            <a:off x="1511300" y="1193800"/>
            <a:ext cx="6121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Understory captures evidence of temperature inversion in Kansas City. http://understoryweather.com/understory-captures-evidence-of-temperature-inversion-in-kansas-city/</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Donora, Pennsylvania Smog (1948)</a:t>
            </a:r>
          </a:p>
        </p:txBody>
      </p:sp>
      <p:pic>
        <p:nvPicPr>
          <p:cNvPr descr="Black-and-white photo of Donora, Pennsylvania, with small houses and laundry lines in the foreground and mill smokestacks releasing smoke along the river valley in the background." id="0" name="Picture 1"/>
          <p:cNvPicPr>
            <a:picLocks noGrp="1" noChangeAspect="1"/>
          </p:cNvPicPr>
          <p:nvPr/>
        </p:nvPicPr>
        <p:blipFill>
          <a:blip r:embed="rId2"/>
          <a:stretch>
            <a:fillRect/>
          </a:stretch>
        </p:blipFill>
        <p:spPr bwMode="auto">
          <a:xfrm>
            <a:off x="2641600" y="1193800"/>
            <a:ext cx="38481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Donora Historical Society and Smog Museum. https://www.sites.google.com/site/donorahistoricalsociety/1948-smog</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Donora, Pennsylvania Smog (1948)</a:t>
            </a:r>
          </a:p>
        </p:txBody>
      </p:sp>
      <p:sp>
        <p:nvSpPr>
          <p:cNvPr id="3" name="Content Placeholder 2"/>
          <p:cNvSpPr>
            <a:spLocks noGrp="1"/>
          </p:cNvSpPr>
          <p:nvPr>
            <p:ph idx="1"/>
          </p:nvPr>
        </p:nvSpPr>
        <p:spPr/>
        <p:txBody>
          <a:bodyPr/>
          <a:lstStyle/>
          <a:p>
            <a:pPr lvl="0"/>
            <a:r>
              <a:rPr/>
              <a:t>Sources</a:t>
            </a:r>
          </a:p>
          <a:p>
            <a:pPr lvl="1"/>
            <a:r>
              <a:rPr/>
              <a:t>CO, SO</a:t>
            </a:r>
            <a:r>
              <a:rPr baseline="-25000"/>
              <a:t>2</a:t>
            </a:r>
            <a:r>
              <a:rPr/>
              <a:t>, and H</a:t>
            </a:r>
            <a:r>
              <a:rPr baseline="-25000"/>
              <a:t>2</a:t>
            </a:r>
            <a:r>
              <a:rPr/>
              <a:t>SO</a:t>
            </a:r>
            <a:r>
              <a:rPr baseline="-25000"/>
              <a:t>4</a:t>
            </a:r>
            <a:r>
              <a:rPr/>
              <a:t> from steel and zinc factories</a:t>
            </a:r>
          </a:p>
          <a:p>
            <a:pPr lvl="1"/>
            <a:r>
              <a:rPr/>
              <a:t>Temperature inversion (5 days in Oct)</a:t>
            </a:r>
          </a:p>
          <a:p>
            <a:pPr lvl="0"/>
            <a:r>
              <a:rPr/>
              <a:t>Receptors</a:t>
            </a:r>
          </a:p>
          <a:p>
            <a:pPr lvl="1"/>
            <a:r>
              <a:rPr/>
              <a:t>About 14,000 residents trapped under thick layer of smog</a:t>
            </a:r>
          </a:p>
          <a:p>
            <a:pPr lvl="1"/>
            <a:r>
              <a:rPr/>
              <a:t>Nearly 7,000 experienced respiratory or cardiovascular issues</a:t>
            </a:r>
          </a:p>
          <a:p>
            <a:pPr lvl="1"/>
            <a:r>
              <a:rPr/>
              <a:t>About 20 deaths during the event</a:t>
            </a:r>
          </a:p>
          <a:p>
            <a:pPr lvl="0"/>
            <a:r>
              <a:rPr/>
              <a:t>Impacts</a:t>
            </a:r>
          </a:p>
          <a:p>
            <a:pPr lvl="1"/>
            <a:r>
              <a:rPr/>
              <a:t>Widely publicized around world and people acted</a:t>
            </a:r>
          </a:p>
          <a:p>
            <a:pPr lvl="1"/>
            <a:r>
              <a:rPr/>
              <a:t>Scientists began to study link between air pollution and health</a:t>
            </a:r>
          </a:p>
          <a:p>
            <a:pPr lvl="1"/>
            <a:r>
              <a:rPr/>
              <a:t>Helped lead to first US federal air law: Air Pollution Control Act (1955)</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Great Smog of London (1952)</a:t>
            </a:r>
          </a:p>
        </p:txBody>
      </p:sp>
      <p:pic>
        <p:nvPicPr>
          <p:cNvPr descr="Black-and-white photo of a tugboat on the River Thames in thick smog, with Tower Bridge barely visible behind it." id="0" name="Picture 1"/>
          <p:cNvPicPr>
            <a:picLocks noGrp="1" noChangeAspect="1"/>
          </p:cNvPicPr>
          <p:nvPr/>
        </p:nvPicPr>
        <p:blipFill>
          <a:blip r:embed="rId2"/>
          <a:stretch>
            <a:fillRect/>
          </a:stretch>
        </p:blipFill>
        <p:spPr bwMode="auto">
          <a:xfrm>
            <a:off x="1600200" y="1193800"/>
            <a:ext cx="59563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A tugboat on the Thames near Tower Bridge in heavy smog, 1952. Fox Photos, Getty Images. https://timedotcom.files.wordpress.com/2016/11/london-fog.jpg</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Great Smog of London (1952)</a:t>
            </a:r>
          </a:p>
        </p:txBody>
      </p:sp>
      <p:sp>
        <p:nvSpPr>
          <p:cNvPr id="3" name="Content Placeholder 2"/>
          <p:cNvSpPr>
            <a:spLocks noGrp="1"/>
          </p:cNvSpPr>
          <p:nvPr>
            <p:ph idx="1"/>
          </p:nvPr>
        </p:nvSpPr>
        <p:spPr/>
        <p:txBody>
          <a:bodyPr/>
          <a:lstStyle/>
          <a:p>
            <a:pPr lvl="0"/>
            <a:r>
              <a:rPr/>
              <a:t>Sources</a:t>
            </a:r>
          </a:p>
          <a:p>
            <a:pPr lvl="1"/>
            <a:r>
              <a:rPr/>
              <a:t>Cold weather led residents to burn extra coal [SO</a:t>
            </a:r>
            <a:r>
              <a:rPr baseline="-25000"/>
              <a:t>2</a:t>
            </a:r>
            <a:r>
              <a:rPr/>
              <a:t>, PM] to stay warm</a:t>
            </a:r>
          </a:p>
          <a:p>
            <a:pPr lvl="1"/>
            <a:r>
              <a:rPr/>
              <a:t>Inversion: 30-mile stagnant air mass (5 days in Dec)</a:t>
            </a:r>
          </a:p>
          <a:p>
            <a:pPr lvl="0"/>
            <a:r>
              <a:rPr/>
              <a:t>Receptors</a:t>
            </a:r>
          </a:p>
          <a:p>
            <a:pPr lvl="1"/>
            <a:r>
              <a:rPr/>
              <a:t>About 100,000 residents felt ill with respiratory symptoms</a:t>
            </a:r>
          </a:p>
          <a:p>
            <a:pPr lvl="1"/>
            <a:r>
              <a:rPr/>
              <a:t>Estimated 4,000-12,000 excess deaths, mostly from bronchitis and pneumonia</a:t>
            </a:r>
          </a:p>
          <a:p>
            <a:pPr lvl="0"/>
            <a:r>
              <a:rPr/>
              <a:t>Impacts</a:t>
            </a:r>
          </a:p>
          <a:p>
            <a:pPr lvl="1"/>
            <a:r>
              <a:rPr/>
              <a:t>Especially bad “pea-souper” as seen on TV (e.g. </a:t>
            </a:r>
            <a:r>
              <a:rPr i="1"/>
              <a:t>The Crown</a:t>
            </a:r>
            <a:r>
              <a:rPr/>
              <a:t>)</a:t>
            </a:r>
          </a:p>
          <a:p>
            <a:pPr lvl="1"/>
            <a:r>
              <a:rPr/>
              <a:t>Led to UK Clean Air Act of 1956 (and 1970 in US)</a:t>
            </a:r>
          </a:p>
          <a:p>
            <a:pPr lvl="1"/>
            <a:r>
              <a:rPr/>
              <a:t>Landmark in air pollution epidemiology: first detailed analysis linking pollutant levels to illness and death </a:t>
            </a:r>
            <a:r>
              <a:rPr>
                <a:hlinkClick r:id="rId2"/>
              </a:rPr>
              <a:t>(Nemery et al. 2001)</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Los Angeles Smog (1954)</a:t>
            </a:r>
          </a:p>
        </p:txBody>
      </p:sp>
      <p:pic>
        <p:nvPicPr>
          <p:cNvPr descr="Black-and-white photo of men seated at banquet tables, many wearing gas masks, with a protest banner hanging at the front of the room." id="0" name="Picture 1"/>
          <p:cNvPicPr>
            <a:picLocks noGrp="1" noChangeAspect="1"/>
          </p:cNvPicPr>
          <p:nvPr/>
        </p:nvPicPr>
        <p:blipFill>
          <a:blip r:embed="rId2"/>
          <a:stretch>
            <a:fillRect/>
          </a:stretch>
        </p:blipFill>
        <p:spPr bwMode="auto">
          <a:xfrm>
            <a:off x="2755900" y="1193800"/>
            <a:ext cx="36322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Highland Park Optimist Club wearing smog-gas masks at banquet, Los Angeles, c. 1954. UCLA Library.</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Los Angeles Smog and Clean Air Act (1970)</a:t>
            </a:r>
          </a:p>
        </p:txBody>
      </p:sp>
      <p:pic>
        <p:nvPicPr>
          <p:cNvPr descr="Photo of the downtown Los Angeles skyline under a thick brown layer of smog, with clear blue sky above the haze." id="0" name="Picture 1"/>
          <p:cNvPicPr>
            <a:picLocks noGrp="1" noChangeAspect="1"/>
          </p:cNvPicPr>
          <p:nvPr/>
        </p:nvPicPr>
        <p:blipFill>
          <a:blip r:embed="rId2"/>
          <a:stretch>
            <a:fillRect/>
          </a:stretch>
        </p:blipFill>
        <p:spPr bwMode="auto">
          <a:xfrm>
            <a:off x="2413000" y="1193800"/>
            <a:ext cx="43307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Photochemical smog in Los Angeles. Getty images.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Los Angeles Smog and Clean Air Act (1970)</a:t>
            </a:r>
          </a:p>
        </p:txBody>
      </p:sp>
      <p:sp>
        <p:nvSpPr>
          <p:cNvPr id="3" name="Content Placeholder 2"/>
          <p:cNvSpPr>
            <a:spLocks noGrp="1"/>
          </p:cNvSpPr>
          <p:nvPr>
            <p:ph idx="1"/>
          </p:nvPr>
        </p:nvSpPr>
        <p:spPr/>
        <p:txBody>
          <a:bodyPr/>
          <a:lstStyle/>
          <a:p>
            <a:pPr lvl="0"/>
            <a:r>
              <a:rPr/>
              <a:t>Sources</a:t>
            </a:r>
          </a:p>
          <a:p>
            <a:pPr lvl="1"/>
            <a:r>
              <a:rPr/>
              <a:t>1,000,000+ vehicles on LA roads by 1940</a:t>
            </a:r>
          </a:p>
          <a:p>
            <a:pPr lvl="1"/>
            <a:r>
              <a:rPr/>
              <a:t>VOC emissions + sunlight + NO</a:t>
            </a:r>
            <a:r>
              <a:rPr baseline="-25000"/>
              <a:t>x</a:t>
            </a:r>
            <a:r>
              <a:rPr/>
              <a:t> → O</a:t>
            </a:r>
            <a:r>
              <a:rPr baseline="-25000"/>
              <a:t>3</a:t>
            </a:r>
            <a:r>
              <a:rPr/>
              <a:t> (photochemical smog)</a:t>
            </a:r>
          </a:p>
          <a:p>
            <a:pPr lvl="1"/>
            <a:r>
              <a:rPr/>
              <a:t>LA is natural trap for smog accumulation</a:t>
            </a:r>
          </a:p>
          <a:p>
            <a:pPr lvl="2"/>
            <a:r>
              <a:rPr/>
              <a:t>Geography: flat basin between ocean and mountains</a:t>
            </a:r>
          </a:p>
          <a:p>
            <a:pPr lvl="2"/>
            <a:r>
              <a:rPr/>
              <a:t>Weather patterns: cold ocean current creates inversions</a:t>
            </a:r>
          </a:p>
          <a:p>
            <a:pPr lvl="0"/>
            <a:r>
              <a:rPr/>
              <a:t>Receptors</a:t>
            </a:r>
          </a:p>
          <a:p>
            <a:pPr lvl="1"/>
            <a:r>
              <a:rPr/>
              <a:t>Respiratory and cardiovascular effects among residents</a:t>
            </a:r>
          </a:p>
          <a:p>
            <a:pPr lvl="1"/>
            <a:r>
              <a:rPr/>
              <a:t>Systematic spatial association between respiratory mortality and increased O</a:t>
            </a:r>
            <a:r>
              <a:rPr baseline="-25000"/>
              <a:t>3</a:t>
            </a:r>
            <a:r>
              <a:rPr/>
              <a:t> levels in 1961 </a:t>
            </a:r>
            <a:r>
              <a:rPr>
                <a:hlinkClick r:id="rId2"/>
              </a:rPr>
              <a:t>(Mahoney 1976)</a:t>
            </a:r>
          </a:p>
          <a:p>
            <a:pPr lvl="0"/>
            <a:r>
              <a:rPr/>
              <a:t>Impacts</a:t>
            </a:r>
          </a:p>
          <a:p>
            <a:pPr lvl="1"/>
            <a:r>
              <a:rPr>
                <a:hlinkClick r:id="rId3"/>
              </a:rPr>
              <a:t>Clean Air Act of 1970</a:t>
            </a:r>
            <a:r>
              <a:rPr/>
              <a:t> set federal and state regulations to limit stationary and mobile source emissions</a:t>
            </a:r>
          </a:p>
          <a:p>
            <a:pPr lvl="1"/>
            <a:r>
              <a:rPr/>
              <a:t>O</a:t>
            </a:r>
            <a:r>
              <a:rPr baseline="-25000"/>
              <a:t>3</a:t>
            </a:r>
            <a:r>
              <a:rPr/>
              <a:t> levels far below 1970s peaks despite many more cars</a:t>
            </a:r>
          </a:p>
          <a:p>
            <a:pPr lvl="1"/>
            <a:r>
              <a:rPr/>
              <a:t>Still ranked worst US metro for O</a:t>
            </a:r>
            <a:r>
              <a:rPr baseline="-25000"/>
              <a:t>3</a:t>
            </a:r>
            <a:r>
              <a:rPr/>
              <a:t> in 26 of last 27 years </a:t>
            </a:r>
            <a:r>
              <a:rPr>
                <a:hlinkClick r:id="rId4"/>
              </a:rPr>
              <a:t>(ALA State of the Air 2026)</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 Emissions After the Clean Air Act (1990-2024)</a:t>
            </a:r>
          </a:p>
        </p:txBody>
      </p:sp>
      <p:pic>
        <p:nvPicPr>
          <p:cNvPr descr="Line chart of US national emissions from 1990 to 2024 in million tons. Sulfur dioxide, nitrogen oxides, carbon monoxide, and volatile organic compounds decline steeply, with sulfur dioxide falling from about 23 to under 2 million tons and nitrogen oxides from about 25 to about 7. Direct PM2.5 and PM10 decline slightly, while ammonia stays roughly flat near 4 to 5 million tons. Carbon monoxide, on a separate right axis, falls from about 145 to about 40 million tons." id="0" name="Picture 1"/>
          <p:cNvPicPr>
            <a:picLocks noGrp="1" noChangeAspect="1"/>
          </p:cNvPicPr>
          <p:nvPr/>
        </p:nvPicPr>
        <p:blipFill>
          <a:blip r:embed="rId2"/>
          <a:stretch>
            <a:fillRect/>
          </a:stretch>
        </p:blipFill>
        <p:spPr bwMode="auto">
          <a:xfrm>
            <a:off x="2451100" y="1193800"/>
            <a:ext cx="42545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US EPA. </a:t>
            </a:r>
            <a:r>
              <a:rPr>
                <a:hlinkClick r:id="rId3"/>
              </a:rPr>
              <a:t>Our Nation’s Air 2025</a:t>
            </a:r>
            <a:r>
              <a:rPr/>
              <a:t>. https://gispub.epa.gov/air/trendsreport/2025/</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Beijing “Airpocalypse” (2013-2014)</a:t>
            </a:r>
          </a:p>
        </p:txBody>
      </p:sp>
      <p:pic>
        <p:nvPicPr>
          <p:cNvPr descr="Two photos of the same Beijing skyline. In the top photo, smog hides most buildings in gray haze; in the bottom photo, the buildings are sharp against a clear sky." id="0" name="Picture 1"/>
          <p:cNvPicPr>
            <a:picLocks noGrp="1" noChangeAspect="1"/>
          </p:cNvPicPr>
          <p:nvPr/>
        </p:nvPicPr>
        <p:blipFill>
          <a:blip r:embed="rId2"/>
          <a:stretch>
            <a:fillRect/>
          </a:stretch>
        </p:blipFill>
        <p:spPr bwMode="auto">
          <a:xfrm>
            <a:off x="2006600" y="1193800"/>
            <a:ext cx="51181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Beijing smog vs. no smog. 2014. Getty Images.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Beijing “Airpocalypse” (2013-2014)</a:t>
            </a:r>
          </a:p>
        </p:txBody>
      </p:sp>
      <p:sp>
        <p:nvSpPr>
          <p:cNvPr id="3" name="Content Placeholder 2"/>
          <p:cNvSpPr>
            <a:spLocks noGrp="1"/>
          </p:cNvSpPr>
          <p:nvPr>
            <p:ph idx="1"/>
          </p:nvPr>
        </p:nvSpPr>
        <p:spPr/>
        <p:txBody>
          <a:bodyPr/>
          <a:lstStyle/>
          <a:p>
            <a:pPr lvl="0"/>
            <a:r>
              <a:rPr/>
              <a:t>Sources</a:t>
            </a:r>
          </a:p>
          <a:p>
            <a:pPr lvl="1"/>
            <a:r>
              <a:rPr/>
              <a:t>PM from burning coal for heat in winter, industry, and vehicle traffic</a:t>
            </a:r>
          </a:p>
          <a:p>
            <a:pPr lvl="1"/>
            <a:r>
              <a:rPr/>
              <a:t>Like LA, Beijing in “natural bowl” with temperature inversions</a:t>
            </a:r>
          </a:p>
          <a:p>
            <a:pPr lvl="0"/>
            <a:r>
              <a:rPr/>
              <a:t>Receptors</a:t>
            </a:r>
          </a:p>
          <a:p>
            <a:pPr lvl="1"/>
            <a:r>
              <a:rPr/>
              <a:t>Respiratory and cardiovascular effects among residents</a:t>
            </a:r>
          </a:p>
          <a:p>
            <a:pPr lvl="1"/>
            <a:r>
              <a:rPr/>
              <a:t>Jan 2013: PM</a:t>
            </a:r>
            <a:r>
              <a:rPr baseline="-25000"/>
              <a:t>2.5</a:t>
            </a:r>
            <a:r>
              <a:rPr/>
              <a:t> went “beyond index,” over 20x WHO guideline</a:t>
            </a:r>
          </a:p>
          <a:p>
            <a:pPr lvl="0"/>
            <a:r>
              <a:rPr/>
              <a:t>Impacts</a:t>
            </a:r>
          </a:p>
          <a:p>
            <a:pPr lvl="1"/>
            <a:r>
              <a:rPr/>
              <a:t>2013 Air Pollution Action Plan: cut coal, closed old plants, cleaner fuels</a:t>
            </a:r>
          </a:p>
          <a:p>
            <a:pPr lvl="1"/>
            <a:r>
              <a:rPr/>
              <a:t>Annual PM</a:t>
            </a:r>
            <a:r>
              <a:rPr baseline="-25000"/>
              <a:t>2.5</a:t>
            </a:r>
            <a:r>
              <a:rPr/>
              <a:t> fell from about 100 µg/m</a:t>
            </a:r>
            <a:r>
              <a:rPr baseline="30000"/>
              <a:t>3</a:t>
            </a:r>
            <a:r>
              <a:rPr/>
              <a:t> (2013) to 27 µg/m</a:t>
            </a:r>
            <a:r>
              <a:rPr baseline="30000"/>
              <a:t>3</a:t>
            </a:r>
            <a:r>
              <a:rPr/>
              <a:t> (2025)</a:t>
            </a:r>
          </a:p>
          <a:p>
            <a:pPr lvl="1"/>
            <a:r>
              <a:rPr/>
              <a:t>US Embassy hourly air quality posts raised public pressure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West Coast Wildfire Smoke</a:t>
            </a:r>
          </a:p>
        </p:txBody>
      </p:sp>
      <p:pic>
        <p:nvPicPr>
          <p:cNvPr descr="NASA satellite image of the western United States and southern Canada, with red dots marking active fires and gray smoke plumes spreading east across several states." id="0" name="Picture 1"/>
          <p:cNvPicPr>
            <a:picLocks noGrp="1" noChangeAspect="1"/>
          </p:cNvPicPr>
          <p:nvPr/>
        </p:nvPicPr>
        <p:blipFill>
          <a:blip r:embed="rId2"/>
          <a:stretch>
            <a:fillRect/>
          </a:stretch>
        </p:blipFill>
        <p:spPr bwMode="auto">
          <a:xfrm>
            <a:off x="2781300" y="1193800"/>
            <a:ext cx="3581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Smoke and wildfires in western U.S., 2017. NASA. https://www.nasa.gov/image-feature/goddard/2017/smoke-and-fires-light-up-pacific-northwest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Recent Wildfire Smoke Events (2020-2025)</a:t>
            </a:r>
          </a:p>
        </p:txBody>
      </p:sp>
      <p:sp>
        <p:nvSpPr>
          <p:cNvPr id="3" name="Content Placeholder 2"/>
          <p:cNvSpPr>
            <a:spLocks noGrp="1"/>
          </p:cNvSpPr>
          <p:nvPr>
            <p:ph idx="1"/>
          </p:nvPr>
        </p:nvSpPr>
        <p:spPr/>
        <p:txBody>
          <a:bodyPr/>
          <a:lstStyle/>
          <a:p>
            <a:pPr lvl="0"/>
            <a:r>
              <a:rPr/>
              <a:t>Sources</a:t>
            </a:r>
          </a:p>
          <a:p>
            <a:pPr lvl="1"/>
            <a:r>
              <a:rPr/>
              <a:t>Hotter, drier conditions and strong winds drive larger fires</a:t>
            </a:r>
          </a:p>
          <a:p>
            <a:pPr lvl="1"/>
            <a:r>
              <a:rPr/>
              <a:t>Smoke (mostly PM</a:t>
            </a:r>
            <a:r>
              <a:rPr baseline="-25000"/>
              <a:t>2.5</a:t>
            </a:r>
            <a:r>
              <a:rPr/>
              <a:t>) travels hundreds to thousands of miles</a:t>
            </a:r>
          </a:p>
          <a:p>
            <a:pPr lvl="0"/>
            <a:r>
              <a:rPr/>
              <a:t>Receptors</a:t>
            </a:r>
          </a:p>
          <a:p>
            <a:pPr lvl="1"/>
            <a:r>
              <a:rPr/>
              <a:t>Entire regions, rural and urban, often far from the fire</a:t>
            </a:r>
          </a:p>
          <a:p>
            <a:pPr lvl="0"/>
            <a:r>
              <a:rPr/>
              <a:t>Some recent major wildfire smoke events</a:t>
            </a:r>
          </a:p>
          <a:p>
            <a:pPr lvl="1"/>
            <a:r>
              <a:rPr/>
              <a:t>West Coast, Sept 2020: Portland had world’s worst major-city air; daily AQI peaked at 357 (Portland) and 196 (Seattle)</a:t>
            </a:r>
          </a:p>
          <a:p>
            <a:pPr lvl="1"/>
            <a:r>
              <a:rPr/>
              <a:t>East Coast, June 2023: smoke from Canadian fires pushed NYC AQI near 500; about 62 million people exposed</a:t>
            </a:r>
          </a:p>
          <a:p>
            <a:pPr lvl="1"/>
            <a:r>
              <a:rPr/>
              <a:t>Los Angeles, Jan 2025: urban fires destroyed 16,000+ structures; smoke and ash carried heavy metals</a:t>
            </a:r>
          </a:p>
          <a:p>
            <a:pPr lvl="0"/>
            <a:r>
              <a:rPr/>
              <a:t>Impacts</a:t>
            </a:r>
          </a:p>
          <a:p>
            <a:pPr lvl="1"/>
            <a:r>
              <a:rPr/>
              <a:t>Protection relies on AQI alerts, indoor air filtration, and limiting time outdoors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Air Pollution Studies</a:t>
            </a:r>
          </a:p>
        </p:txBody>
      </p:sp>
      <p:sp>
        <p:nvSpPr>
          <p:cNvPr id="3" name="Content Placeholder 2"/>
          <p:cNvSpPr>
            <a:spLocks noGrp="1"/>
          </p:cNvSpPr>
          <p:nvPr>
            <p:ph idx="1"/>
          </p:nvPr>
        </p:nvSpPr>
        <p:spPr/>
        <p:txBody>
          <a:bodyPr/>
          <a:lstStyle/>
          <a:p>
            <a:pPr lvl="0" indent="-342900" marL="342900">
              <a:buAutoNum type="arabicPeriod"/>
            </a:pPr>
            <a:r>
              <a:rPr>
                <a:hlinkClick r:id="rId2"/>
              </a:rPr>
              <a:t>Harvard “Six Cities” Study</a:t>
            </a:r>
          </a:p>
          <a:p>
            <a:pPr lvl="0" indent="-342900" marL="342900">
              <a:buAutoNum type="arabicPeriod"/>
            </a:pPr>
            <a:r>
              <a:rPr>
                <a:hlinkClick r:id="rId3"/>
              </a:rPr>
              <a:t>Multi-Ethnic Study of Atherosclerosis and Air Pollution (MESA Air), led by UW</a:t>
            </a:r>
          </a:p>
          <a:p>
            <a:pPr lvl="0" indent="-342900" marL="342900">
              <a:buAutoNum type="arabicPeriod"/>
            </a:pPr>
            <a:r>
              <a:rPr>
                <a:hlinkClick r:id="rId4"/>
              </a:rPr>
              <a:t>UW Adult Changes in Thought Air Pollution (ACT-AP) Study: PM</a:t>
            </a:r>
            <a:r>
              <a:rPr baseline="-25000">
                <a:hlinkClick r:id="rId5"/>
              </a:rPr>
              <a:t>2.5</a:t>
            </a:r>
            <a:r>
              <a:rPr>
                <a:hlinkClick r:id="rId6"/>
              </a:rPr>
              <a:t> and dementia</a:t>
            </a:r>
          </a:p>
          <a:p>
            <a:pPr lvl="0" indent="-342900" marL="342900">
              <a:buAutoNum type="arabicPeriod"/>
            </a:pPr>
            <a:r>
              <a:rPr>
                <a:hlinkClick r:id="rId7"/>
              </a:rPr>
              <a:t>State of Global Air 2024</a:t>
            </a:r>
            <a:r>
              <a:rPr/>
              <a:t>: air pollution linked to 8.1 million deaths (2021), 2nd leading risk factor</a:t>
            </a:r>
          </a:p>
          <a:p>
            <a:pPr lvl="0" indent="-342900" marL="342900">
              <a:buAutoNum type="arabicPeriod"/>
            </a:pPr>
            <a:r>
              <a:rPr>
                <a:hlinkClick r:id="rId8"/>
              </a:rPr>
              <a:t>Burke et al. 2023, </a:t>
            </a:r>
            <a:r>
              <a:rPr i="1">
                <a:hlinkClick r:id="rId9"/>
              </a:rPr>
              <a:t>Nature</a:t>
            </a:r>
            <a:r>
              <a:rPr/>
              <a:t>: wildfire smoke erased about 1/4 of PM</a:t>
            </a:r>
            <a:r>
              <a:rPr baseline="-25000"/>
              <a:t>2.5</a:t>
            </a:r>
            <a:r>
              <a:rPr/>
              <a:t> gains since 2000 in 35 states</a:t>
            </a:r>
          </a:p>
          <a:p>
            <a:pPr lvl="0" indent="-342900" marL="342900">
              <a:buAutoNum type="arabicPeriod"/>
            </a:pPr>
            <a:r>
              <a:rPr/>
              <a:t>Local monitoring you can check today:</a:t>
            </a:r>
          </a:p>
          <a:p>
            <a:pPr lvl="1"/>
            <a:r>
              <a:rPr>
                <a:hlinkClick r:id="rId10"/>
              </a:rPr>
              <a:t>Puget Sound Clean Air Agency sensor map</a:t>
            </a:r>
            <a:r>
              <a:rPr/>
              <a:t>, </a:t>
            </a:r>
            <a:r>
              <a:rPr>
                <a:hlinkClick r:id="rId11"/>
              </a:rPr>
              <a:t>WA Ecology air quality map</a:t>
            </a:r>
            <a:r>
              <a:rPr/>
              <a:t>, </a:t>
            </a:r>
            <a:r>
              <a:rPr>
                <a:hlinkClick r:id="rId12"/>
              </a:rPr>
              <a:t>EPA AirNow Fire and Smoke Map</a:t>
            </a:r>
          </a:p>
          <a:p>
            <a:pPr lvl="0" indent="-342900" marL="342900">
              <a:buAutoNum type="arabicPeriod"/>
            </a:pPr>
            <a:r>
              <a:rPr/>
              <a:t>Health effects commonly studied: mortality, respiratory disease and lung cancer, cardiovascular disease and stroke, low birthweight, dementia</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Government and Policy</a:t>
            </a:r>
          </a:p>
        </p:txBody>
      </p:sp>
      <p:sp>
        <p:nvSpPr>
          <p:cNvPr id="3" name="Content Placeholder 2"/>
          <p:cNvSpPr>
            <a:spLocks noGrp="1"/>
          </p:cNvSpPr>
          <p:nvPr>
            <p:ph idx="1"/>
          </p:nvPr>
        </p:nvSpPr>
        <p:spPr/>
        <p:txBody>
          <a:bodyPr/>
          <a:lstStyle/>
          <a:p>
            <a:pPr lvl="0" indent="-342900" marL="342900">
              <a:buAutoNum type="arabicPeriod"/>
            </a:pPr>
            <a:r>
              <a:rPr/>
              <a:t>Clean Air Act (1956-UK; 1970-USA)</a:t>
            </a:r>
          </a:p>
          <a:p>
            <a:pPr lvl="0" indent="-342900" marL="342900">
              <a:buAutoNum type="arabicPeriod"/>
            </a:pPr>
            <a:r>
              <a:rPr/>
              <a:t>National Ambient Air Quality Standards (NAAQS)</a:t>
            </a:r>
          </a:p>
          <a:p>
            <a:pPr lvl="1"/>
            <a:r>
              <a:rPr/>
              <a:t>CO, Pb, NO</a:t>
            </a:r>
            <a:r>
              <a:rPr baseline="-25000"/>
              <a:t>2</a:t>
            </a:r>
            <a:r>
              <a:rPr/>
              <a:t>, O</a:t>
            </a:r>
            <a:r>
              <a:rPr baseline="-25000"/>
              <a:t>3</a:t>
            </a:r>
            <a:r>
              <a:rPr/>
              <a:t>, PM</a:t>
            </a:r>
            <a:r>
              <a:rPr baseline="-25000"/>
              <a:t>10</a:t>
            </a:r>
            <a:r>
              <a:rPr/>
              <a:t>, PM</a:t>
            </a:r>
            <a:r>
              <a:rPr baseline="-25000"/>
              <a:t>2.5</a:t>
            </a:r>
            <a:r>
              <a:rPr/>
              <a:t>, SO</a:t>
            </a:r>
            <a:r>
              <a:rPr baseline="-25000"/>
              <a:t>2</a:t>
            </a:r>
          </a:p>
          <a:p>
            <a:pPr lvl="1"/>
            <a:r>
              <a:rPr/>
              <a:t>2024: annual PM</a:t>
            </a:r>
            <a:r>
              <a:rPr baseline="-25000"/>
              <a:t>2.5</a:t>
            </a:r>
            <a:r>
              <a:rPr/>
              <a:t> standard lowered from 12 to 9 µg/m</a:t>
            </a:r>
            <a:r>
              <a:rPr baseline="30000"/>
              <a:t>3</a:t>
            </a:r>
            <a:r>
              <a:rPr/>
              <a:t> (upheld in federal court, 2026)</a:t>
            </a:r>
          </a:p>
          <a:p>
            <a:pPr lvl="0" indent="-342900" marL="342900">
              <a:buAutoNum type="arabicPeriod"/>
            </a:pPr>
            <a:r>
              <a:rPr>
                <a:hlinkClick r:id="rId2"/>
              </a:rPr>
              <a:t>WHO Air Quality Guidelines (2021)</a:t>
            </a:r>
            <a:r>
              <a:rPr/>
              <a:t>: annual PM</a:t>
            </a:r>
            <a:r>
              <a:rPr baseline="-25000"/>
              <a:t>2.5</a:t>
            </a:r>
            <a:r>
              <a:rPr/>
              <a:t> guideline of 5 µg/m</a:t>
            </a:r>
            <a:r>
              <a:rPr baseline="30000"/>
              <a:t>3</a:t>
            </a:r>
          </a:p>
          <a:p>
            <a:pPr lvl="0" indent="-342900" marL="342900">
              <a:buAutoNum type="arabicPeriod"/>
            </a:pPr>
            <a:r>
              <a:rPr/>
              <a:t>Air quality modeling and monitoring</a:t>
            </a:r>
          </a:p>
          <a:p>
            <a:pPr lvl="1"/>
            <a:r>
              <a:rPr>
                <a:hlinkClick r:id="rId3"/>
              </a:rPr>
              <a:t>Dispersion</a:t>
            </a:r>
            <a:r>
              <a:rPr/>
              <a:t> and </a:t>
            </a:r>
            <a:r>
              <a:rPr>
                <a:hlinkClick r:id="rId4"/>
              </a:rPr>
              <a:t>receptor</a:t>
            </a:r>
            <a:r>
              <a:rPr/>
              <a:t> modeling; </a:t>
            </a:r>
            <a:r>
              <a:rPr>
                <a:hlinkClick r:id="rId5"/>
              </a:rPr>
              <a:t>Puget Sound Clean Air Agency</a:t>
            </a:r>
            <a:r>
              <a:rPr/>
              <a:t> and </a:t>
            </a:r>
            <a:r>
              <a:rPr>
                <a:hlinkClick r:id="rId6"/>
              </a:rPr>
              <a:t>WA Ecology</a:t>
            </a:r>
            <a:r>
              <a:rPr/>
              <a:t> monitors</a:t>
            </a:r>
          </a:p>
          <a:p>
            <a:pPr lvl="1"/>
            <a:r>
              <a:rPr>
                <a:hlinkClick r:id="rId7"/>
              </a:rPr>
              <a:t>EPA Our Nation’s Air 2025</a:t>
            </a:r>
            <a:r>
              <a:rPr/>
              <a:t>: national air quality and emissions trends</a:t>
            </a:r>
          </a:p>
          <a:p>
            <a:pPr lvl="0" indent="-342900" marL="342900">
              <a:buAutoNum type="arabicPeriod"/>
            </a:pPr>
            <a:r>
              <a:rPr>
                <a:hlinkClick r:id="rId8"/>
              </a:rPr>
              <a:t>WA wildfire smoke rule for workers</a:t>
            </a:r>
            <a:r>
              <a:rPr/>
              <a:t> (L&amp;I, 2024; updated 2025)</a:t>
            </a:r>
          </a:p>
          <a:p>
            <a:pPr lvl="0" indent="-342900" marL="342900">
              <a:buAutoNum type="arabicPeriod"/>
            </a:pPr>
            <a:r>
              <a:rPr>
                <a:hlinkClick r:id="rId9"/>
              </a:rPr>
              <a:t>WA Climate Commitment Act</a:t>
            </a:r>
            <a:r>
              <a:rPr/>
              <a:t>: improving air quality in 16 overburdened communities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Brief History of Air Pollution and Exposure Pathways</dc:title>
  <dc:creator>Eddie Kasner</dc:creator>
  <cp:keywords/>
  <dcterms:created xsi:type="dcterms:W3CDTF">2026-10-22T05:14:49Z</dcterms:created>
  <dcterms:modified xsi:type="dcterms:W3CDTF">2026-10-22T05:14:49Z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option">
    <vt:lpwstr>aspectratio=169</vt:lpwstr>
  </property>
  <property fmtid="{D5CDD505-2E9C-101B-9397-08002B2CF9AE}" pid="3" name="date">
    <vt:lpwstr/>
  </property>
  <property fmtid="{D5CDD505-2E9C-101B-9397-08002B2CF9AE}" pid="4" name="incremental">
    <vt:lpwstr>False</vt:lpwstr>
  </property>
  <property fmtid="{D5CDD505-2E9C-101B-9397-08002B2CF9AE}" pid="5" name="output">
    <vt:lpwstr/>
  </property>
  <property fmtid="{D5CDD505-2E9C-101B-9397-08002B2CF9AE}" pid="6" name="subtitle">
    <vt:lpwstr>ENVH 111</vt:lpwstr>
  </property>
  <property fmtid="{D5CDD505-2E9C-101B-9397-08002B2CF9AE}" pid="7" name="urlcolor">
    <vt:lpwstr>blue</vt:lpwstr>
  </property>
</Properties>
</file>